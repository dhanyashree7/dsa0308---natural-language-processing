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7" r:id="rId3"/>
    <p:sldId id="258" r:id="rId4"/>
    <p:sldId id="260" r:id="rId5"/>
    <p:sldId id="262" r:id="rId6"/>
    <p:sldId id="271" r:id="rId7"/>
    <p:sldId id="272" r:id="rId8"/>
    <p:sldId id="278" r:id="rId9"/>
    <p:sldId id="269" r:id="rId10"/>
  </p:sldIdLst>
  <p:sldSz cx="18288000" cy="10287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85" autoAdjust="0"/>
    <p:restoredTop sz="94622" autoAdjust="0"/>
  </p:normalViewPr>
  <p:slideViewPr>
    <p:cSldViewPr>
      <p:cViewPr varScale="1">
        <p:scale>
          <a:sx n="58" d="100"/>
          <a:sy n="58" d="100"/>
        </p:scale>
        <p:origin x="288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11" b="-92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41576" y="2819257"/>
            <a:ext cx="14630097" cy="4107644"/>
            <a:chOff x="0" y="0"/>
            <a:chExt cx="19506796" cy="54768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288000" cy="4775199"/>
            </a:xfrm>
            <a:custGeom>
              <a:avLst/>
              <a:gdLst/>
              <a:ahLst/>
              <a:cxnLst/>
              <a:rect l="l" t="t" r="r" b="b"/>
              <a:pathLst>
                <a:path w="18288000" h="4775200">
                  <a:moveTo>
                    <a:pt x="0" y="0"/>
                  </a:moveTo>
                  <a:lnTo>
                    <a:pt x="18288000" y="0"/>
                  </a:lnTo>
                  <a:lnTo>
                    <a:pt x="18288000" y="4775200"/>
                  </a:lnTo>
                  <a:lnTo>
                    <a:pt x="0" y="4775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18796" y="787384"/>
              <a:ext cx="18288000" cy="468947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/>
              <a:r>
                <a:rPr lang="en-US" sz="3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 (MS) Bold"/>
                  <a:cs typeface="Times New Roman" panose="02020603050405020304" pitchFamily="18" charset="0"/>
                  <a:sym typeface="Calibri (MS) Bold"/>
                </a:rPr>
                <a:t>COURSE: </a:t>
              </a:r>
              <a:r>
                <a:rPr lang="en-IN" sz="3600" b="1" i="0" dirty="0">
                  <a:solidFill>
                    <a:srgbClr val="FFFFFF"/>
                  </a:solidFill>
                  <a:effectLst/>
                  <a:latin typeface="Lucida Grande"/>
                </a:rPr>
                <a:t> </a:t>
              </a:r>
              <a:r>
                <a:rPr lang="en-IN" sz="3600" b="1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NATURAL LANGUAGE PROCESSING</a:t>
              </a:r>
            </a:p>
            <a:p>
              <a:pPr algn="ctr"/>
              <a:r>
                <a:rPr lang="en-US" sz="3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 (MS) Bold"/>
                  <a:cs typeface="Times New Roman" panose="02020603050405020304" pitchFamily="18" charset="0"/>
                  <a:sym typeface="Calibri (MS) Bold"/>
                </a:rPr>
                <a:t>COURSE CODE: </a:t>
              </a:r>
              <a:r>
                <a:rPr lang="en-IN" sz="3600" b="1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DSA0308</a:t>
              </a:r>
            </a:p>
            <a:p>
              <a:pPr algn="ctr">
                <a:lnSpc>
                  <a:spcPts val="5040"/>
                </a:lnSpc>
              </a:pPr>
              <a:endPara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endParaRPr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2616327" y="538680"/>
            <a:ext cx="13055346" cy="1679788"/>
            <a:chOff x="0" y="0"/>
            <a:chExt cx="17407128" cy="22397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407128" cy="2239772"/>
            </a:xfrm>
            <a:custGeom>
              <a:avLst/>
              <a:gdLst/>
              <a:ahLst/>
              <a:cxnLst/>
              <a:rect l="l" t="t" r="r" b="b"/>
              <a:pathLst>
                <a:path w="17407128" h="2239772">
                  <a:moveTo>
                    <a:pt x="0" y="0"/>
                  </a:moveTo>
                  <a:lnTo>
                    <a:pt x="17407128" y="0"/>
                  </a:lnTo>
                  <a:lnTo>
                    <a:pt x="17407128" y="2239772"/>
                  </a:lnTo>
                  <a:lnTo>
                    <a:pt x="0" y="22397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2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640081" y="8004238"/>
            <a:ext cx="6675120" cy="1230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Calibri (MS) Bold"/>
                <a:cs typeface="Times New Roman" panose="02020603050405020304" pitchFamily="18" charset="0"/>
                <a:sym typeface="Calibri (MS) Bold"/>
              </a:rPr>
              <a:t>GUIDED BY:</a:t>
            </a:r>
          </a:p>
          <a:p>
            <a:pPr algn="ctr">
              <a:lnSpc>
                <a:spcPts val="5040"/>
              </a:lnSpc>
            </a:pPr>
            <a:r>
              <a:rPr lang="en-IN" sz="3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KUMARAGURUBARAN. T</a:t>
            </a:r>
            <a:endParaRPr lang="en-US" sz="3600" b="1" dirty="0">
              <a:latin typeface="Times New Roman" panose="02020603050405020304" pitchFamily="18" charset="0"/>
              <a:ea typeface="Calibri (MS) Bold"/>
              <a:cs typeface="Times New Roman" panose="02020603050405020304" pitchFamily="18" charset="0"/>
              <a:sym typeface="Calibri (MS)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972800" y="8334973"/>
            <a:ext cx="6675120" cy="1195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6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Calibri (MS) Bold"/>
                <a:cs typeface="Times New Roman" panose="02020603050405020304" pitchFamily="18" charset="0"/>
                <a:sym typeface="Calibri (MS) Bold"/>
              </a:rPr>
              <a:t>PRESENTED BY:</a:t>
            </a:r>
          </a:p>
          <a:p>
            <a:pPr algn="ctr">
              <a:lnSpc>
                <a:spcPts val="4896"/>
              </a:lnSpc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rPr>
              <a:t>DHANYA SHREE AB(192472002)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1C8877D-247A-4637-B5F5-3A4D063E1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855630"/>
            <a:ext cx="1356329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sz="5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Finite State Automaton (FSA) in Natural Language Processing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19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11" b="-92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85800" y="-97994"/>
            <a:ext cx="16344900" cy="1988345"/>
            <a:chOff x="-762000" y="0"/>
            <a:chExt cx="21793200" cy="26511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-762000" y="66675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28"/>
                </a:lnSpc>
              </a:pPr>
              <a:r>
                <a:rPr lang="en-US" sz="6600" b="1" spc="-40" dirty="0">
                  <a:solidFill>
                    <a:srgbClr val="000000"/>
                  </a:solidFill>
                  <a:latin typeface="Times New Roman" panose="02020603050405020304" pitchFamily="18" charset="0"/>
                  <a:ea typeface="TT Rounds Condensed Bold"/>
                  <a:cs typeface="Times New Roman" panose="02020603050405020304" pitchFamily="18" charset="0"/>
                  <a:sym typeface="TT Rounds Condensed Bold"/>
                </a:rPr>
                <a:t>Abstract</a:t>
              </a:r>
            </a:p>
          </p:txBody>
        </p:sp>
      </p:grpSp>
      <p:sp>
        <p:nvSpPr>
          <p:cNvPr id="8" name="Rectangle 2">
            <a:extLst>
              <a:ext uri="{FF2B5EF4-FFF2-40B4-BE49-F238E27FC236}">
                <a16:creationId xmlns:a16="http://schemas.microsoft.com/office/drawing/2014/main" id="{A7151EB3-9CBA-450E-9D2C-400B392C4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480787"/>
            <a:ext cx="16764000" cy="6836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 enables computers to understand and process human language.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Finite State Automata (FSA) is one of the basic computational models used in NLP.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recognizes input patterns by moving through a sequence of predefined states.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FSA is widely used for lexical analysis, tokenization, and regular expression matching.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offers a simple and efficient method for processing textual data.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presentation explains the concept, working principle, applications, advantages, and limitations of FSA in NLP.</a:t>
            </a:r>
          </a:p>
        </p:txBody>
      </p:sp>
    </p:spTree>
    <p:extLst>
      <p:ext uri="{BB962C8B-B14F-4D97-AF65-F5344CB8AC3E}">
        <p14:creationId xmlns:p14="http://schemas.microsoft.com/office/powerpoint/2010/main" val="632234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11" b="-92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28600" y="220728"/>
            <a:ext cx="16596849" cy="3008890"/>
            <a:chOff x="-1097932" y="-1360726"/>
            <a:chExt cx="22129132" cy="40118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-1097932" y="-1360726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28"/>
                </a:lnSpc>
              </a:pPr>
              <a:r>
                <a:rPr lang="en-US" sz="6600" b="1" spc="-40" dirty="0">
                  <a:solidFill>
                    <a:srgbClr val="000000"/>
                  </a:solidFill>
                  <a:latin typeface="Times New Roman" panose="02020603050405020304" pitchFamily="18" charset="0"/>
                  <a:ea typeface="TT Rounds Condensed Bold"/>
                  <a:cs typeface="Times New Roman" panose="02020603050405020304" pitchFamily="18" charset="0"/>
                  <a:sym typeface="TT Rounds Condensed Bold"/>
                </a:rPr>
                <a:t>Introduction</a:t>
              </a:r>
            </a:p>
          </p:txBody>
        </p:sp>
      </p:grpSp>
      <p:sp>
        <p:nvSpPr>
          <p:cNvPr id="7" name="Rectangle 1">
            <a:extLst>
              <a:ext uri="{FF2B5EF4-FFF2-40B4-BE49-F238E27FC236}">
                <a16:creationId xmlns:a16="http://schemas.microsoft.com/office/drawing/2014/main" id="{70E65BB0-DFBB-4E13-84B9-1FB5939EB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201" y="2310221"/>
            <a:ext cx="16021050" cy="6651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Finite State Automaton (FSA) is a mathematical model used to recognize patterns and sequences of characters.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 a finite number of states connected by transitions.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automaton starts from an initial state and processes one input symbol at a time.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input, it moves between states according to predefined rules.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the automaton reaches a final (accepting) state after processing the input, the input is considered valid.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FSA plays an important role in NLP applications such as lexical analysis, morphological parsing, and text pattern recognition.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11" b="-92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57300" y="-391476"/>
            <a:ext cx="19164300" cy="2713102"/>
            <a:chOff x="0" y="-966341"/>
            <a:chExt cx="25552400" cy="361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4521200" y="-966341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/>
              <a:r>
                <a:rPr lang="en-IN" sz="3600" b="1" i="0" dirty="0">
                  <a:effectLst/>
                  <a:latin typeface="-apple-system-body"/>
                </a:rPr>
                <a:t>Working, Components &amp; Applications</a:t>
              </a:r>
            </a:p>
          </p:txBody>
        </p:sp>
      </p:grpSp>
      <p:sp>
        <p:nvSpPr>
          <p:cNvPr id="8" name="Rectangle 2">
            <a:extLst>
              <a:ext uri="{FF2B5EF4-FFF2-40B4-BE49-F238E27FC236}">
                <a16:creationId xmlns:a16="http://schemas.microsoft.com/office/drawing/2014/main" id="{C56E7734-AE10-4667-9C31-8DA24836C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5416034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7A713C7-C557-4468-AB2D-D19A18C38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989" y="1320963"/>
            <a:ext cx="17450022" cy="8417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Working of FSA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automaton starts from the initial state.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reads each input character sequentially.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transition function determines the next state.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the input reaches an accepting state, the string is accepted.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no valid transition exists, the string is rejected.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process continues until all input symbols are processed.</a:t>
            </a:r>
          </a:p>
          <a:p>
            <a:pPr algn="just">
              <a:lnSpc>
                <a:spcPct val="150000"/>
              </a:lnSpc>
            </a:pPr>
            <a:r>
              <a:rPr lang="en-US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 Components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 Alphabet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Transition Function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 State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Accept State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9824F1-D787-42D4-8552-EA4267E97837}"/>
              </a:ext>
            </a:extLst>
          </p:cNvPr>
          <p:cNvSpPr txBox="1"/>
          <p:nvPr/>
        </p:nvSpPr>
        <p:spPr>
          <a:xfrm flipH="1">
            <a:off x="12534900" y="1546864"/>
            <a:ext cx="5440681" cy="5196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Tokenization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Spell Checking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 Matching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Analysis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Parsing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Validation</a:t>
            </a: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11" b="-9211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838200" y="134631"/>
            <a:ext cx="15773400" cy="2174820"/>
            <a:chOff x="0" y="-248633"/>
            <a:chExt cx="21031200" cy="28997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48633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28"/>
                </a:lnSpc>
              </a:pPr>
              <a:r>
                <a:rPr lang="en-US" sz="4000" b="1" spc="-40" dirty="0">
                  <a:solidFill>
                    <a:srgbClr val="000000"/>
                  </a:solidFill>
                  <a:latin typeface="Times New Roman" panose="02020603050405020304" pitchFamily="18" charset="0"/>
                  <a:ea typeface="TT Rounds Condensed Bold"/>
                  <a:cs typeface="Times New Roman" panose="02020603050405020304" pitchFamily="18" charset="0"/>
                  <a:sym typeface="TT Rounds Condensed Bold"/>
                </a:rPr>
                <a:t>FLOW DIAGRAM</a:t>
              </a:r>
            </a:p>
          </p:txBody>
        </p:sp>
      </p:grpSp>
      <p:sp>
        <p:nvSpPr>
          <p:cNvPr id="6" name="AutoShape 2" descr="Generated image: Working flow of FSA for &quot;cat&quot;">
            <a:extLst>
              <a:ext uri="{FF2B5EF4-FFF2-40B4-BE49-F238E27FC236}">
                <a16:creationId xmlns:a16="http://schemas.microsoft.com/office/drawing/2014/main" id="{AF2F397E-0041-467F-A7C6-9FF5A78664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02EC73-4610-460D-9241-C63447DAB39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812" b="11977"/>
          <a:stretch/>
        </p:blipFill>
        <p:spPr>
          <a:xfrm>
            <a:off x="2533650" y="2481017"/>
            <a:ext cx="12915900" cy="6906591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11" b="-9211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838200" y="-88907"/>
            <a:ext cx="19812000" cy="2382732"/>
            <a:chOff x="0" y="-525849"/>
            <a:chExt cx="26416000" cy="31769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5384800" y="-525849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/>
              <a:r>
                <a:rPr lang="en-IN" sz="3600" b="1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Advantages &amp; Disadvantages</a:t>
              </a:r>
            </a:p>
          </p:txBody>
        </p:sp>
      </p:grpSp>
      <p:sp>
        <p:nvSpPr>
          <p:cNvPr id="7" name="Rectangle 2">
            <a:extLst>
              <a:ext uri="{FF2B5EF4-FFF2-40B4-BE49-F238E27FC236}">
                <a16:creationId xmlns:a16="http://schemas.microsoft.com/office/drawing/2014/main" id="{95D3AEB2-0F93-405F-9763-A09F92E32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2996384"/>
            <a:ext cx="17144999" cy="5174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 and efficient for pattern recognition.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to understand and implement.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 very little memory.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accurate lexical analysis.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regular expression processing.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text processing applications.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B1ABAC-0087-4C99-BD4C-16E3F0E24F6E}"/>
              </a:ext>
            </a:extLst>
          </p:cNvPr>
          <p:cNvSpPr txBox="1"/>
          <p:nvPr/>
        </p:nvSpPr>
        <p:spPr>
          <a:xfrm>
            <a:off x="9525000" y="2990129"/>
            <a:ext cx="8610600" cy="5913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Cannot understand the meaning of words.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Cannot process complex grammatical structures.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to finite memory.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Does not handle context-dependent language.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Unsuitable for semantic analysis.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Less effective for complex NLP tasks.</a:t>
            </a:r>
          </a:p>
          <a:p>
            <a:pPr>
              <a:lnSpc>
                <a:spcPct val="150000"/>
              </a:lnSpc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11" b="-9211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1981200" y="313271"/>
            <a:ext cx="20345400" cy="9499812"/>
            <a:chOff x="1524000" y="-10447"/>
            <a:chExt cx="27127200" cy="12666410"/>
          </a:xfrm>
        </p:grpSpPr>
        <p:sp>
          <p:nvSpPr>
            <p:cNvPr id="4" name="Freeform 4"/>
            <p:cNvSpPr/>
            <p:nvPr/>
          </p:nvSpPr>
          <p:spPr>
            <a:xfrm>
              <a:off x="1524000" y="10004838"/>
              <a:ext cx="21031200" cy="2651125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00" y="-10447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/>
              <a:r>
                <a:rPr lang="en-IN" sz="5400" b="1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</a:t>
              </a:r>
            </a:p>
          </p:txBody>
        </p:sp>
      </p:grpSp>
      <p:sp>
        <p:nvSpPr>
          <p:cNvPr id="6" name="Rectangle 1">
            <a:extLst>
              <a:ext uri="{FF2B5EF4-FFF2-40B4-BE49-F238E27FC236}">
                <a16:creationId xmlns:a16="http://schemas.microsoft.com/office/drawing/2014/main" id="{8E295BF0-F05F-4C36-A8DE-405742A3D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387" y="2400300"/>
            <a:ext cx="16885225" cy="6836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Finite State Automata is a fundamental model in Natural Language Processing.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recognizes words and patterns using states and transitions.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FSA provides fast and efficient text processing.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used in lexical analysis, spell checking, and tokenization.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Although it has limitations, it remains an essential building block in NLP.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FSA helps in learning advanced NLP concepts such as parsing and language modeling.</a:t>
            </a:r>
          </a:p>
        </p:txBody>
      </p:sp>
    </p:spTree>
    <p:extLst>
      <p:ext uri="{BB962C8B-B14F-4D97-AF65-F5344CB8AC3E}">
        <p14:creationId xmlns:p14="http://schemas.microsoft.com/office/powerpoint/2010/main" val="12943151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78D751-AB44-4AF2-B4DA-073BB3606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876300"/>
            <a:ext cx="12725400" cy="9220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3EABB3-5CA5-4F48-9F54-A0EFCF4FB889}"/>
              </a:ext>
            </a:extLst>
          </p:cNvPr>
          <p:cNvSpPr txBox="1"/>
          <p:nvPr/>
        </p:nvSpPr>
        <p:spPr>
          <a:xfrm flipH="1">
            <a:off x="6934200" y="190500"/>
            <a:ext cx="3764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GEOTAG PHOTO</a:t>
            </a:r>
          </a:p>
        </p:txBody>
      </p:sp>
    </p:spTree>
    <p:extLst>
      <p:ext uri="{BB962C8B-B14F-4D97-AF65-F5344CB8AC3E}">
        <p14:creationId xmlns:p14="http://schemas.microsoft.com/office/powerpoint/2010/main" val="2693471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11" b="-92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66800" y="-147638"/>
            <a:ext cx="15963900" cy="2683671"/>
            <a:chOff x="-254000" y="-927102"/>
            <a:chExt cx="21285200" cy="357822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-254000" y="-927102"/>
              <a:ext cx="21031200" cy="2584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28"/>
                </a:lnSpc>
              </a:pPr>
              <a:endParaRPr lang="en-US" sz="6600" b="1" spc="-40" dirty="0">
                <a:solidFill>
                  <a:srgbClr val="000000"/>
                </a:solidFill>
                <a:latin typeface="Times New Roman" panose="02020603050405020304" pitchFamily="18" charset="0"/>
                <a:ea typeface="TT Rounds Condensed Bold"/>
                <a:cs typeface="Times New Roman" panose="02020603050405020304" pitchFamily="18" charset="0"/>
                <a:sym typeface="TT Rounds Condensed Bold"/>
              </a:endParaRPr>
            </a:p>
          </p:txBody>
        </p:sp>
      </p:grpSp>
      <p:sp>
        <p:nvSpPr>
          <p:cNvPr id="7" name="Rectangle 1">
            <a:extLst>
              <a:ext uri="{FF2B5EF4-FFF2-40B4-BE49-F238E27FC236}">
                <a16:creationId xmlns:a16="http://schemas.microsoft.com/office/drawing/2014/main" id="{C920B862-FB2C-452E-AE2C-25DE57206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33400" y="3586609"/>
            <a:ext cx="18288000" cy="1555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885</TotalTime>
  <Words>480</Words>
  <Application>Microsoft Office PowerPoint</Application>
  <PresentationFormat>Custom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-apple-system-body</vt:lpstr>
      <vt:lpstr>Times New Roman</vt:lpstr>
      <vt:lpstr>Arial</vt:lpstr>
      <vt:lpstr>Lucida Grande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 Default Prediction Model.pptx</dc:title>
  <dc:creator>Dhanyashree</dc:creator>
  <cp:lastModifiedBy>Dhanyashree</cp:lastModifiedBy>
  <cp:revision>49</cp:revision>
  <dcterms:created xsi:type="dcterms:W3CDTF">2006-08-16T00:00:00Z</dcterms:created>
  <dcterms:modified xsi:type="dcterms:W3CDTF">2026-07-23T07:55:21Z</dcterms:modified>
  <dc:identifier>DAG5OHi5xlI</dc:identifier>
</cp:coreProperties>
</file>